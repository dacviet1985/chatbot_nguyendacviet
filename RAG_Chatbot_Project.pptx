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globe_b_f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377440" y="0"/>
            <a:ext cx="9144000" cy="5084064"/>
          </a:xfrm>
          <a:prstGeom prst="rect">
            <a:avLst/>
          </a:prstGeom>
        </p:spPr>
      </p:pic>
      <p:pic>
        <p:nvPicPr>
          <p:cNvPr id="3" name="Image 1" descr="img/logo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80" y="109728"/>
            <a:ext cx="1234440" cy="56692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097280" y="914400"/>
            <a:ext cx="6858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200" dirty="0">
                <a:solidFill>
                  <a:srgbClr val="1155CC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KHÓA HỌC AI ENGINEER</a:t>
            </a:r>
            <a:endParaRPr lang="en-US" sz="3200" dirty="0"/>
          </a:p>
        </p:txBody>
      </p:sp>
      <p:sp>
        <p:nvSpPr>
          <p:cNvPr id="5" name="Text 1"/>
          <p:cNvSpPr txBox="1"/>
          <p:nvPr/>
        </p:nvSpPr>
        <p:spPr>
          <a:xfrm>
            <a:off x="1463040" y="1737360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D85C6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PROJECT CUỐI MODULE</a:t>
            </a:r>
            <a:endParaRPr lang="en-US" sz="2800" b="1" dirty="0">
              <a:solidFill>
                <a:srgbClr val="3D85C6"/>
              </a:solidFill>
              <a:latin typeface="Times New Roman" panose="02020603050405020304" pitchFamily="34" charset="0"/>
              <a:ea typeface="Times New Roman" panose="02020603050405020304" pitchFamily="34" charset="-122"/>
              <a:cs typeface="Times New Roman" panose="02020603050405020304" pitchFamily="34" charset="-120"/>
            </a:endParaRPr>
          </a:p>
        </p:txBody>
      </p:sp>
      <p:sp>
        <p:nvSpPr>
          <p:cNvPr id="6" name="Text 2"/>
          <p:cNvSpPr txBox="1"/>
          <p:nvPr/>
        </p:nvSpPr>
        <p:spPr>
          <a:xfrm>
            <a:off x="1463040" y="2148840"/>
            <a:ext cx="731520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>
                <a:solidFill>
                  <a:srgbClr val="FF56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End-to-End RAG Chatbot:</a:t>
            </a:r>
            <a:endParaRPr lang="en-US" sz="2800" dirty="0"/>
          </a:p>
          <a:p>
            <a:pPr marL="0" indent="0">
              <a:buNone/>
            </a:pPr>
            <a:r>
              <a:rPr lang="en-US" sz="2800" dirty="0">
                <a:solidFill>
                  <a:srgbClr val="FF560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Trợ lý hỏi – đáp trên dữ liệu tùy chọn</a:t>
            </a:r>
            <a:endParaRPr lang="en-US" sz="2800" dirty="0">
              <a:solidFill>
                <a:srgbClr val="FF5600"/>
              </a:solidFill>
              <a:latin typeface="Times New Roman" panose="02020603050405020304" pitchFamily="34" charset="0"/>
              <a:ea typeface="Times New Roman" panose="02020603050405020304" pitchFamily="34" charset="-122"/>
              <a:cs typeface="Times New Roman" panose="02020603050405020304" pitchFamily="34" charset="-120"/>
            </a:endParaRPr>
          </a:p>
        </p:txBody>
      </p:sp>
      <p:sp>
        <p:nvSpPr>
          <p:cNvPr id="7" name="Text 3"/>
          <p:cNvSpPr txBox="1"/>
          <p:nvPr/>
        </p:nvSpPr>
        <p:spPr>
          <a:xfrm>
            <a:off x="4846320" y="3840480"/>
            <a:ext cx="3840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3D85C6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Trần Mạnh Đạt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6072"/>
          </a:xfrm>
          <a:prstGeom prst="rect">
            <a:avLst/>
          </a:prstGeom>
          <a:solidFill>
            <a:srgbClr val="3F8AFD"/>
          </a:solidFill>
          <a:ln w="12700">
            <a:solidFill>
              <a:srgbClr val="3F8AF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0"/>
            <a:ext cx="8595360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Nội dung chính</a:t>
            </a:r>
            <a:endParaRPr lang="en-US" sz="2600" dirty="0"/>
          </a:p>
        </p:txBody>
      </p:sp>
      <p:pic>
        <p:nvPicPr>
          <p:cNvPr id="4" name="Image 0" descr="img/logo_b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" y="4590288"/>
            <a:ext cx="1005840" cy="46360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514600" y="4773168"/>
            <a:ext cx="6446520" cy="0"/>
          </a:xfrm>
          <a:prstGeom prst="line">
            <a:avLst/>
          </a:prstGeom>
          <a:noFill/>
          <a:ln w="25400">
            <a:solidFill>
              <a:srgbClr val="6696F2"/>
            </a:solidFill>
            <a:prstDash val="solid"/>
          </a:ln>
        </p:spPr>
      </p:sp>
      <p:pic>
        <p:nvPicPr>
          <p:cNvPr id="6" name="Image 1" descr="img/barshad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904" y="1426464"/>
            <a:ext cx="6675120" cy="420624"/>
          </a:xfrm>
          <a:prstGeom prst="rect">
            <a:avLst/>
          </a:prstGeom>
        </p:spPr>
      </p:pic>
      <p:pic>
        <p:nvPicPr>
          <p:cNvPr id="7" name="Image 2" descr="img/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1371600"/>
            <a:ext cx="6675120" cy="420624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600200" y="1371600"/>
            <a:ext cx="64008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111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I. Kiến trúc hệ thống</a:t>
            </a:r>
            <a:endParaRPr lang="en-US" sz="1700" dirty="0"/>
          </a:p>
        </p:txBody>
      </p:sp>
      <p:pic>
        <p:nvPicPr>
          <p:cNvPr id="9" name="Image 3" descr="img/barshad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904" y="2203704"/>
            <a:ext cx="6675120" cy="420624"/>
          </a:xfrm>
          <a:prstGeom prst="rect">
            <a:avLst/>
          </a:prstGeom>
        </p:spPr>
      </p:pic>
      <p:pic>
        <p:nvPicPr>
          <p:cNvPr id="10" name="Image 4" descr="img/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2148840"/>
            <a:ext cx="6675120" cy="420624"/>
          </a:xfrm>
          <a:prstGeom prst="rect">
            <a:avLst/>
          </a:prstGeom>
        </p:spPr>
      </p:pic>
      <p:sp>
        <p:nvSpPr>
          <p:cNvPr id="11" name="Text 4"/>
          <p:cNvSpPr txBox="1"/>
          <p:nvPr/>
        </p:nvSpPr>
        <p:spPr>
          <a:xfrm>
            <a:off x="1600200" y="2148840"/>
            <a:ext cx="64008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111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II. Yêu cầu chi tiết</a:t>
            </a:r>
            <a:endParaRPr lang="en-US" sz="1700" dirty="0"/>
          </a:p>
        </p:txBody>
      </p:sp>
      <p:pic>
        <p:nvPicPr>
          <p:cNvPr id="12" name="Image 5" descr="img/barshad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904" y="2980944"/>
            <a:ext cx="6675120" cy="420624"/>
          </a:xfrm>
          <a:prstGeom prst="rect">
            <a:avLst/>
          </a:prstGeom>
        </p:spPr>
      </p:pic>
      <p:pic>
        <p:nvPicPr>
          <p:cNvPr id="13" name="Image 6" descr="img/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2926080"/>
            <a:ext cx="6675120" cy="420624"/>
          </a:xfrm>
          <a:prstGeom prst="rect">
            <a:avLst/>
          </a:prstGeom>
        </p:spPr>
      </p:pic>
      <p:sp>
        <p:nvSpPr>
          <p:cNvPr id="14" name="Text 5"/>
          <p:cNvSpPr txBox="1"/>
          <p:nvPr/>
        </p:nvSpPr>
        <p:spPr>
          <a:xfrm>
            <a:off x="1600200" y="2926080"/>
            <a:ext cx="64008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111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III. Sản phẩm nộp bài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6072"/>
          </a:xfrm>
          <a:prstGeom prst="rect">
            <a:avLst/>
          </a:prstGeom>
          <a:solidFill>
            <a:srgbClr val="3F8AFD"/>
          </a:solidFill>
          <a:ln w="12700">
            <a:solidFill>
              <a:srgbClr val="3F8AF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0"/>
            <a:ext cx="8595360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I. Kiến trúc hệ thống</a:t>
            </a:r>
            <a:endParaRPr lang="en-US" sz="2600" dirty="0"/>
          </a:p>
        </p:txBody>
      </p:sp>
      <p:pic>
        <p:nvPicPr>
          <p:cNvPr id="4" name="Image 0" descr="img/logo_b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" y="4590288"/>
            <a:ext cx="1005840" cy="46360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514600" y="4773168"/>
            <a:ext cx="6446520" cy="0"/>
          </a:xfrm>
          <a:prstGeom prst="line">
            <a:avLst/>
          </a:prstGeom>
          <a:noFill/>
          <a:ln w="25400">
            <a:solidFill>
              <a:srgbClr val="6696F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65760" y="7772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5271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Offline – Indexing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65760" y="1097280"/>
            <a:ext cx="1477670" cy="914400"/>
          </a:xfrm>
          <a:prstGeom prst="roundRect">
            <a:avLst>
              <a:gd name="adj" fmla="val 8000"/>
            </a:avLst>
          </a:prstGeom>
          <a:solidFill>
            <a:srgbClr val="FDF1EF"/>
          </a:solidFill>
          <a:ln w="15875">
            <a:solidFill>
              <a:srgbClr val="A5271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11480" y="1097280"/>
            <a:ext cx="138623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5271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Tài liệu</a:t>
            </a:r>
            <a:endParaRPr lang="en-US" sz="140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33333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PDF / TXT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870862" y="1554480"/>
            <a:ext cx="201168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2099462" y="1097280"/>
            <a:ext cx="1477670" cy="914400"/>
          </a:xfrm>
          <a:prstGeom prst="roundRect">
            <a:avLst>
              <a:gd name="adj" fmla="val 8000"/>
            </a:avLst>
          </a:prstGeom>
          <a:solidFill>
            <a:srgbClr val="FDF1EF"/>
          </a:solidFill>
          <a:ln w="15875">
            <a:solidFill>
              <a:srgbClr val="A5271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145182" y="1097280"/>
            <a:ext cx="138623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5271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Chunking</a:t>
            </a:r>
            <a:endParaRPr lang="en-US" sz="140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33333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size, overlap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604565" y="1554480"/>
            <a:ext cx="201168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3833165" y="1097280"/>
            <a:ext cx="1477670" cy="914400"/>
          </a:xfrm>
          <a:prstGeom prst="roundRect">
            <a:avLst>
              <a:gd name="adj" fmla="val 8000"/>
            </a:avLst>
          </a:prstGeom>
          <a:solidFill>
            <a:srgbClr val="FDF1EF"/>
          </a:solidFill>
          <a:ln w="15875">
            <a:solidFill>
              <a:srgbClr val="A5271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878885" y="1097280"/>
            <a:ext cx="138623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5271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Embedding</a:t>
            </a:r>
            <a:endParaRPr lang="en-US" sz="140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33333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OpenAI / HF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338267" y="1554480"/>
            <a:ext cx="201168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5566867" y="1097280"/>
            <a:ext cx="1477670" cy="914400"/>
          </a:xfrm>
          <a:prstGeom prst="roundRect">
            <a:avLst>
              <a:gd name="adj" fmla="val 8000"/>
            </a:avLst>
          </a:prstGeom>
          <a:solidFill>
            <a:srgbClr val="FDF1EF"/>
          </a:solidFill>
          <a:ln w="15875">
            <a:solidFill>
              <a:srgbClr val="A5271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612587" y="1097280"/>
            <a:ext cx="138623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5271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Vector DB</a:t>
            </a:r>
            <a:endParaRPr lang="en-US" sz="140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33333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FAISS / Chroma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071970" y="1554480"/>
            <a:ext cx="201168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7300570" y="1097280"/>
            <a:ext cx="1477670" cy="914400"/>
          </a:xfrm>
          <a:prstGeom prst="roundRect">
            <a:avLst>
              <a:gd name="adj" fmla="val 8000"/>
            </a:avLst>
          </a:prstGeom>
          <a:solidFill>
            <a:srgbClr val="FDF1EF"/>
          </a:solidFill>
          <a:ln w="15875">
            <a:solidFill>
              <a:srgbClr val="A5271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346290" y="1097280"/>
            <a:ext cx="138623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5271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Metadata</a:t>
            </a:r>
            <a:endParaRPr lang="en-US" sz="140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33333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source, page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365760" y="228600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55CC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Online – Hỏi đáp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365760" y="2606040"/>
            <a:ext cx="1477670" cy="914400"/>
          </a:xfrm>
          <a:prstGeom prst="roundRect">
            <a:avLst>
              <a:gd name="adj" fmla="val 8000"/>
            </a:avLst>
          </a:prstGeom>
          <a:solidFill>
            <a:srgbClr val="EEF4FF"/>
          </a:solidFill>
          <a:ln w="15875">
            <a:solidFill>
              <a:srgbClr val="1155CC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11480" y="2606040"/>
            <a:ext cx="138623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55CC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UI</a:t>
            </a:r>
            <a:endParaRPr lang="en-US" sz="140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33333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Streamlit / Gradio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1870862" y="3063240"/>
            <a:ext cx="201168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2099462" y="2606040"/>
            <a:ext cx="1477670" cy="914400"/>
          </a:xfrm>
          <a:prstGeom prst="roundRect">
            <a:avLst>
              <a:gd name="adj" fmla="val 8000"/>
            </a:avLst>
          </a:prstGeom>
          <a:solidFill>
            <a:srgbClr val="EEF4FF"/>
          </a:solidFill>
          <a:ln w="15875">
            <a:solidFill>
              <a:srgbClr val="1155CC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2145182" y="2606040"/>
            <a:ext cx="138623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55CC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FastAPI</a:t>
            </a:r>
            <a:endParaRPr lang="en-US" sz="140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33333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/chat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3604565" y="3063240"/>
            <a:ext cx="201168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3833165" y="2606040"/>
            <a:ext cx="1477670" cy="914400"/>
          </a:xfrm>
          <a:prstGeom prst="roundRect">
            <a:avLst>
              <a:gd name="adj" fmla="val 8000"/>
            </a:avLst>
          </a:prstGeom>
          <a:solidFill>
            <a:srgbClr val="EEF4FF"/>
          </a:solidFill>
          <a:ln w="15875">
            <a:solidFill>
              <a:srgbClr val="1155CC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3878885" y="2606040"/>
            <a:ext cx="138623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55CC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Cache</a:t>
            </a:r>
            <a:endParaRPr lang="en-US" sz="140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33333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hit → trả ngay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5338267" y="3063240"/>
            <a:ext cx="201168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5566867" y="2606040"/>
            <a:ext cx="1477670" cy="914400"/>
          </a:xfrm>
          <a:prstGeom prst="roundRect">
            <a:avLst>
              <a:gd name="adj" fmla="val 8000"/>
            </a:avLst>
          </a:prstGeom>
          <a:solidFill>
            <a:srgbClr val="EEF4FF"/>
          </a:solidFill>
          <a:ln w="15875">
            <a:solidFill>
              <a:srgbClr val="1155CC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5612587" y="2606040"/>
            <a:ext cx="138623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55CC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Retriever</a:t>
            </a:r>
            <a:endParaRPr lang="en-US" sz="140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33333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Top-K (+ Bonus)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7071970" y="3063240"/>
            <a:ext cx="201168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34" name="Shape 31"/>
          <p:cNvSpPr/>
          <p:nvPr/>
        </p:nvSpPr>
        <p:spPr>
          <a:xfrm>
            <a:off x="7300570" y="2606040"/>
            <a:ext cx="1477670" cy="914400"/>
          </a:xfrm>
          <a:prstGeom prst="roundRect">
            <a:avLst>
              <a:gd name="adj" fmla="val 8000"/>
            </a:avLst>
          </a:prstGeom>
          <a:solidFill>
            <a:srgbClr val="EEF4FF"/>
          </a:solidFill>
          <a:ln w="15875">
            <a:solidFill>
              <a:srgbClr val="1155CC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7346290" y="2606040"/>
            <a:ext cx="138623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55CC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LLM</a:t>
            </a:r>
            <a:endParaRPr lang="en-US" sz="140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33333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prompt + memory</a:t>
            </a:r>
            <a:endParaRPr lang="en-US" sz="140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333333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+ tool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365760" y="3794760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22222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Đầu ra: câu trả lời + sources  ·  Mỗi lượt đều ghi log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6072"/>
          </a:xfrm>
          <a:prstGeom prst="rect">
            <a:avLst/>
          </a:prstGeom>
          <a:solidFill>
            <a:srgbClr val="3F8AFD"/>
          </a:solidFill>
          <a:ln w="12700">
            <a:solidFill>
              <a:srgbClr val="3F8AF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0"/>
            <a:ext cx="8595360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II. Yêu cầu chi tiết</a:t>
            </a:r>
            <a:endParaRPr lang="en-US" sz="2600" dirty="0"/>
          </a:p>
        </p:txBody>
      </p:sp>
      <p:pic>
        <p:nvPicPr>
          <p:cNvPr id="4" name="Image 0" descr="img/logo_b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" y="4590288"/>
            <a:ext cx="1005840" cy="46360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514600" y="4773168"/>
            <a:ext cx="6446520" cy="0"/>
          </a:xfrm>
          <a:prstGeom prst="line">
            <a:avLst/>
          </a:prstGeom>
          <a:noFill/>
          <a:ln w="25400">
            <a:solidFill>
              <a:srgbClr val="6696F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65760" y="749808"/>
            <a:ext cx="8412480" cy="713232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" y="749808"/>
            <a:ext cx="731520" cy="7132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65760" y="749808"/>
            <a:ext cx="73152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01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1097280" y="749808"/>
            <a:ext cx="2697480" cy="713232"/>
          </a:xfrm>
          <a:prstGeom prst="homePlate">
            <a:avLst/>
          </a:prstGeom>
          <a:solidFill>
            <a:srgbClr val="A5271F"/>
          </a:solidFill>
          <a:ln w="12700">
            <a:solidFill>
              <a:srgbClr val="A5271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207008" y="749808"/>
            <a:ext cx="228600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Ingestion &amp; Vector Search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3931920" y="749808"/>
            <a:ext cx="475488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A5271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3–5 PDF/TXT · chunking có giải thích · Embedding · FAISS/Chroma · metadata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365760" y="1508760"/>
            <a:ext cx="8412480" cy="713232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65760" y="1508760"/>
            <a:ext cx="731520" cy="7132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65760" y="1508760"/>
            <a:ext cx="73152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02</a:t>
            </a:r>
            <a:endParaRPr lang="en-US" sz="2600" dirty="0"/>
          </a:p>
        </p:txBody>
      </p:sp>
      <p:sp>
        <p:nvSpPr>
          <p:cNvPr id="15" name="Shape 12"/>
          <p:cNvSpPr/>
          <p:nvPr/>
        </p:nvSpPr>
        <p:spPr>
          <a:xfrm>
            <a:off x="1097280" y="1508760"/>
            <a:ext cx="2697480" cy="713232"/>
          </a:xfrm>
          <a:prstGeom prst="homePlate">
            <a:avLst/>
          </a:prstGeom>
          <a:solidFill>
            <a:srgbClr val="A5271F"/>
          </a:solidFill>
          <a:ln w="12700">
            <a:solidFill>
              <a:srgbClr val="A5271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207008" y="1508760"/>
            <a:ext cx="228600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RAG Pipeline &amp; Prompt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3931920" y="1508760"/>
            <a:ext cx="475488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A5271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Top-K · grounding, chống bịa đặt · citations · memory · ≥ 01 tool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365760" y="2267712"/>
            <a:ext cx="8412480" cy="713232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65760" y="2267712"/>
            <a:ext cx="731520" cy="7132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65760" y="2267712"/>
            <a:ext cx="73152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03</a:t>
            </a:r>
            <a:endParaRPr lang="en-US" sz="2600" dirty="0"/>
          </a:p>
        </p:txBody>
      </p:sp>
      <p:sp>
        <p:nvSpPr>
          <p:cNvPr id="21" name="Shape 18"/>
          <p:cNvSpPr/>
          <p:nvPr/>
        </p:nvSpPr>
        <p:spPr>
          <a:xfrm>
            <a:off x="1097280" y="2267712"/>
            <a:ext cx="2697480" cy="713232"/>
          </a:xfrm>
          <a:prstGeom prst="homePlate">
            <a:avLst/>
          </a:prstGeom>
          <a:solidFill>
            <a:srgbClr val="A5271F"/>
          </a:solidFill>
          <a:ln w="12700">
            <a:solidFill>
              <a:srgbClr val="A5271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207008" y="2267712"/>
            <a:ext cx="228600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API, Caching &amp; UI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3931920" y="2267712"/>
            <a:ext cx="475488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A5271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FastAPI: GET /health, POST /chat · cache · Streamlit/Gradio</a:t>
            </a:r>
            <a:endParaRPr lang="en-US" sz="1450" dirty="0"/>
          </a:p>
        </p:txBody>
      </p:sp>
      <p:sp>
        <p:nvSpPr>
          <p:cNvPr id="24" name="Shape 21"/>
          <p:cNvSpPr/>
          <p:nvPr/>
        </p:nvSpPr>
        <p:spPr>
          <a:xfrm>
            <a:off x="365760" y="3026664"/>
            <a:ext cx="8412480" cy="713232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65760" y="3026664"/>
            <a:ext cx="731520" cy="7132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65760" y="3026664"/>
            <a:ext cx="73152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04</a:t>
            </a:r>
            <a:endParaRPr lang="en-US" sz="2600" dirty="0"/>
          </a:p>
        </p:txBody>
      </p:sp>
      <p:sp>
        <p:nvSpPr>
          <p:cNvPr id="27" name="Shape 24"/>
          <p:cNvSpPr/>
          <p:nvPr/>
        </p:nvSpPr>
        <p:spPr>
          <a:xfrm>
            <a:off x="1097280" y="3026664"/>
            <a:ext cx="2697480" cy="713232"/>
          </a:xfrm>
          <a:prstGeom prst="homePlate">
            <a:avLst/>
          </a:prstGeom>
          <a:solidFill>
            <a:srgbClr val="A5271F"/>
          </a:solidFill>
          <a:ln w="12700">
            <a:solidFill>
              <a:srgbClr val="A5271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207008" y="3026664"/>
            <a:ext cx="228600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Đánh giá &amp; Giám sát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3931920" y="3026664"/>
            <a:ext cx="475488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A5271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10–15 câu test · Faithfulness 0/1 · Relevance 0–2 · log · ≥ 2 failure</a:t>
            </a:r>
            <a:endParaRPr lang="en-US" sz="1450" dirty="0"/>
          </a:p>
        </p:txBody>
      </p:sp>
      <p:sp>
        <p:nvSpPr>
          <p:cNvPr id="30" name="Shape 27"/>
          <p:cNvSpPr/>
          <p:nvPr/>
        </p:nvSpPr>
        <p:spPr>
          <a:xfrm>
            <a:off x="365760" y="3785616"/>
            <a:ext cx="8412480" cy="713232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65760" y="3785616"/>
            <a:ext cx="731520" cy="7132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365760" y="3785616"/>
            <a:ext cx="73152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05</a:t>
            </a:r>
            <a:endParaRPr lang="en-US" sz="2600" dirty="0"/>
          </a:p>
        </p:txBody>
      </p:sp>
      <p:sp>
        <p:nvSpPr>
          <p:cNvPr id="33" name="Shape 30"/>
          <p:cNvSpPr/>
          <p:nvPr/>
        </p:nvSpPr>
        <p:spPr>
          <a:xfrm>
            <a:off x="1097280" y="3785616"/>
            <a:ext cx="2697480" cy="713232"/>
          </a:xfrm>
          <a:prstGeom prst="homePlate">
            <a:avLst/>
          </a:prstGeom>
          <a:solidFill>
            <a:srgbClr val="A5271F"/>
          </a:solidFill>
          <a:ln w="12700">
            <a:solidFill>
              <a:srgbClr val="A5271F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1207008" y="3785616"/>
            <a:ext cx="228600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Advanced RAG (Bonus)</a:t>
            </a:r>
            <a:endParaRPr lang="en-US" sz="1600" dirty="0"/>
          </a:p>
        </p:txBody>
      </p:sp>
      <p:sp>
        <p:nvSpPr>
          <p:cNvPr id="35" name="Text 32"/>
          <p:cNvSpPr txBox="1"/>
          <p:nvPr/>
        </p:nvSpPr>
        <p:spPr>
          <a:xfrm>
            <a:off x="3931920" y="3785616"/>
            <a:ext cx="475488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A5271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Chọn ≥ 01: Reranker · Hybrid Search · Query Transformation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76072"/>
          </a:xfrm>
          <a:prstGeom prst="rect">
            <a:avLst/>
          </a:prstGeom>
          <a:solidFill>
            <a:srgbClr val="3F8AFD"/>
          </a:solidFill>
          <a:ln w="12700">
            <a:solidFill>
              <a:srgbClr val="3F8AF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0"/>
            <a:ext cx="8595360" cy="5760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III. Sản phẩm nộp bài</a:t>
            </a:r>
            <a:endParaRPr lang="en-US" sz="2600" dirty="0"/>
          </a:p>
        </p:txBody>
      </p:sp>
      <p:pic>
        <p:nvPicPr>
          <p:cNvPr id="4" name="Image 0" descr="img/logo_b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" y="4590288"/>
            <a:ext cx="1005840" cy="46360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514600" y="4773168"/>
            <a:ext cx="6446520" cy="0"/>
          </a:xfrm>
          <a:prstGeom prst="line">
            <a:avLst/>
          </a:prstGeom>
          <a:noFill/>
          <a:ln w="25400">
            <a:solidFill>
              <a:srgbClr val="6696F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777240"/>
            <a:ext cx="4069080" cy="1737360"/>
          </a:xfrm>
          <a:prstGeom prst="roundRect">
            <a:avLst>
              <a:gd name="adj" fmla="val 6316"/>
            </a:avLst>
          </a:prstGeom>
          <a:solidFill>
            <a:srgbClr val="1C1C1C"/>
          </a:solidFill>
          <a:ln w="9525">
            <a:solidFill>
              <a:srgbClr val="44444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886968"/>
            <a:ext cx="3703320" cy="15179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D9F2A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1. Mã nguồn</a:t>
            </a:r>
            <a:endParaRPr lang="en-US" sz="1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2F2F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GitHub hoặc .zip, cấu trúc rõ ràng, có requirements.txt.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709160" y="777240"/>
            <a:ext cx="4069080" cy="1737360"/>
          </a:xfrm>
          <a:prstGeom prst="roundRect">
            <a:avLst>
              <a:gd name="adj" fmla="val 6316"/>
            </a:avLst>
          </a:prstGeom>
          <a:solidFill>
            <a:srgbClr val="1C1C1C"/>
          </a:solidFill>
          <a:ln w="9525">
            <a:solidFill>
              <a:srgbClr val="44444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892040" y="886968"/>
            <a:ext cx="3703320" cy="15179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D9F2A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2. Dữ liệu</a:t>
            </a:r>
            <a:endParaRPr lang="en-US" sz="1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2F2F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Tài liệu mẫu (.pdf/.txt) + script ingest vào Vector DB.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57200" y="2697480"/>
            <a:ext cx="4069080" cy="1737360"/>
          </a:xfrm>
          <a:prstGeom prst="roundRect">
            <a:avLst>
              <a:gd name="adj" fmla="val 6316"/>
            </a:avLst>
          </a:prstGeom>
          <a:solidFill>
            <a:srgbClr val="1C1C1C"/>
          </a:solidFill>
          <a:ln w="9525">
            <a:solidFill>
              <a:srgbClr val="44444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2807208"/>
            <a:ext cx="3703320" cy="15179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D9F2A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3. Báo cáo (3–5 trang)</a:t>
            </a:r>
            <a:endParaRPr lang="en-US" sz="1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2F2F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Kiến trúc · Prompt template · Evaluation sheet + failure cases · Hướng dẫn chạy.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4709160" y="2697480"/>
            <a:ext cx="4069080" cy="1737360"/>
          </a:xfrm>
          <a:prstGeom prst="roundRect">
            <a:avLst>
              <a:gd name="adj" fmla="val 6316"/>
            </a:avLst>
          </a:prstGeom>
          <a:solidFill>
            <a:srgbClr val="1C1C1C"/>
          </a:solidFill>
          <a:ln w="9525">
            <a:solidFill>
              <a:srgbClr val="44444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892040" y="2807208"/>
            <a:ext cx="3703320" cy="15179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D9F2A0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4. Video demo (3–5 phút)</a:t>
            </a:r>
            <a:endParaRPr lang="en-US" sz="1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2F2F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Demo luồng hỏi đáp: có memory, trích dẫn nguồn và gọi tool.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1293</Words>
  <Application>WPS Presentation</Application>
  <PresentationFormat>On-screen Show (16:9)</PresentationFormat>
  <Paragraphs>102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6" baseType="lpstr">
      <vt:lpstr>Arial</vt:lpstr>
      <vt:lpstr>SimSun</vt:lpstr>
      <vt:lpstr>Wingdings</vt:lpstr>
      <vt:lpstr>Times New Roman</vt:lpstr>
      <vt:lpstr>Times New Roman</vt:lpstr>
      <vt:lpstr>Times New Roman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cuối module: End-to-End RAG Chatbot</dc:title>
  <dc:creator>PptxGenJS</dc:creator>
  <dc:subject>PptxGenJS Presentation</dc:subject>
  <cp:lastModifiedBy>google1597194219</cp:lastModifiedBy>
  <cp:revision>3</cp:revision>
  <dcterms:created xsi:type="dcterms:W3CDTF">2026-09-16T11:00:00Z</dcterms:created>
  <dcterms:modified xsi:type="dcterms:W3CDTF">2026-09-16T12:49:44Z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5238A1AF83454D24923C3AA918D3F799_12</vt:lpwstr>
  </property>
  <property fmtid="{D5CDD505-2E9C-101B-9397-08002B2CF9AE}" pid="3" name="KSOProductBuildVer">
    <vt:lpwstr>1033-12.1.0.28485</vt:lpwstr>
  </property>
</Properties>
</file>