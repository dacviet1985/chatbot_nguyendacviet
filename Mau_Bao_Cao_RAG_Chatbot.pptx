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3.png"/><Relationship Id="rId6" Type="http://schemas.openxmlformats.org/officeDocument/2006/relationships/image" Target="../media/image-2-2.png"/><Relationship Id="rId7" Type="http://schemas.openxmlformats.org/officeDocument/2006/relationships/image" Target="../media/image-2-3.png"/><Relationship Id="rId8" Type="http://schemas.openxmlformats.org/officeDocument/2006/relationships/image" Target="../media/image-2-2.png"/><Relationship Id="rId9" Type="http://schemas.openxmlformats.org/officeDocument/2006/relationships/image" Target="../media/image-2-3.png"/><Relationship Id="rId10" Type="http://schemas.openxmlformats.org/officeDocument/2006/relationships/image" Target="../media/image-2-2.png"/><Relationship Id="rId11" Type="http://schemas.openxmlformats.org/officeDocument/2006/relationships/image" Target="../media/image-2-3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globe_b_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77440" y="0"/>
            <a:ext cx="9144000" cy="5084064"/>
          </a:xfrm>
          <a:prstGeom prst="rect">
            <a:avLst/>
          </a:prstGeom>
        </p:spPr>
      </p:pic>
      <p:pic>
        <p:nvPicPr>
          <p:cNvPr id="3" name="Image 1" descr="img/logo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09728"/>
            <a:ext cx="1234440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7280" y="868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1155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KHÓA HỌC AI ENGINEER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463040" y="1645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85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BÁO CÁO PROJECT CUỐI MODULE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146304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5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End-to-End RAG Chatbot: [Tên chatbot / bộ dữ liệu]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3017520" y="352044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3D85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Học viên: [Họ và tên]</a:t>
            </a:r>
            <a:endParaRPr lang="en-US" sz="2400" dirty="0"/>
          </a:p>
          <a:p>
            <a:pPr algn="r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8A8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GitHub: [link repo]   ·   Video demo: [link]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6072"/>
          </a:xfrm>
          <a:prstGeom prst="rect">
            <a:avLst/>
          </a:prstGeom>
          <a:solidFill>
            <a:srgbClr val="3F8AFD"/>
          </a:solidFill>
          <a:ln w="12700">
            <a:solidFill>
              <a:srgbClr val="3F8AF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595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Nội dung báo cáo</a:t>
            </a:r>
            <a:endParaRPr lang="en-US" sz="2600" dirty="0"/>
          </a:p>
        </p:txBody>
      </p:sp>
      <p:pic>
        <p:nvPicPr>
          <p:cNvPr id="4" name="Image 0" descr="img/logo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4590288"/>
            <a:ext cx="1005840" cy="4636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14600" y="4773168"/>
            <a:ext cx="6446520" cy="0"/>
          </a:xfrm>
          <a:prstGeom prst="line">
            <a:avLst/>
          </a:prstGeom>
          <a:noFill/>
          <a:ln w="25400">
            <a:solidFill>
              <a:srgbClr val="6696F2"/>
            </a:solidFill>
            <a:prstDash val="solid"/>
          </a:ln>
        </p:spPr>
      </p:sp>
      <p:pic>
        <p:nvPicPr>
          <p:cNvPr id="6" name="Image 1" descr="img/barsha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923544"/>
            <a:ext cx="6675120" cy="457200"/>
          </a:xfrm>
          <a:prstGeom prst="rect">
            <a:avLst/>
          </a:prstGeom>
        </p:spPr>
      </p:pic>
      <p:pic>
        <p:nvPicPr>
          <p:cNvPr id="7" name="Image 2" descr="img/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868680"/>
            <a:ext cx="6675120" cy="4572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600200" y="868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Kiến trúc hệ thống</a:t>
            </a:r>
            <a:endParaRPr lang="en-US" sz="1900" dirty="0"/>
          </a:p>
        </p:txBody>
      </p:sp>
      <p:pic>
        <p:nvPicPr>
          <p:cNvPr id="9" name="Image 3" descr="img/bar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904" y="1609344"/>
            <a:ext cx="6675120" cy="457200"/>
          </a:xfrm>
          <a:prstGeom prst="rect">
            <a:avLst/>
          </a:prstGeom>
        </p:spPr>
      </p:pic>
      <p:pic>
        <p:nvPicPr>
          <p:cNvPr id="10" name="Image 4" descr="img/b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1554480"/>
            <a:ext cx="6675120" cy="45720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600200" y="1554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Prompt Template</a:t>
            </a:r>
            <a:endParaRPr lang="en-US" sz="1900" dirty="0"/>
          </a:p>
        </p:txBody>
      </p:sp>
      <p:pic>
        <p:nvPicPr>
          <p:cNvPr id="12" name="Image 5" descr="img/barshad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7904" y="2295144"/>
            <a:ext cx="6675120" cy="457200"/>
          </a:xfrm>
          <a:prstGeom prst="rect">
            <a:avLst/>
          </a:prstGeom>
        </p:spPr>
      </p:pic>
      <p:pic>
        <p:nvPicPr>
          <p:cNvPr id="13" name="Image 6" descr="img/b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040" y="2240280"/>
            <a:ext cx="6675120" cy="457200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1600200" y="2240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Evaluation Sheet</a:t>
            </a:r>
            <a:endParaRPr lang="en-US" sz="1900" dirty="0"/>
          </a:p>
        </p:txBody>
      </p:sp>
      <p:pic>
        <p:nvPicPr>
          <p:cNvPr id="15" name="Image 7" descr="img/barshad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7904" y="2980944"/>
            <a:ext cx="6675120" cy="457200"/>
          </a:xfrm>
          <a:prstGeom prst="rect">
            <a:avLst/>
          </a:prstGeom>
        </p:spPr>
      </p:pic>
      <p:pic>
        <p:nvPicPr>
          <p:cNvPr id="16" name="Image 8" descr="img/b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3040" y="2926080"/>
            <a:ext cx="6675120" cy="457200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160020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Failure Analysis</a:t>
            </a:r>
            <a:endParaRPr lang="en-US" sz="1900" dirty="0"/>
          </a:p>
        </p:txBody>
      </p:sp>
      <p:pic>
        <p:nvPicPr>
          <p:cNvPr id="18" name="Image 9" descr="img/barshado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17904" y="3666744"/>
            <a:ext cx="6675120" cy="457200"/>
          </a:xfrm>
          <a:prstGeom prst="rect">
            <a:avLst/>
          </a:prstGeom>
        </p:spPr>
      </p:pic>
      <p:pic>
        <p:nvPicPr>
          <p:cNvPr id="19" name="Image 10" descr="img/ba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63040" y="3611880"/>
            <a:ext cx="6675120" cy="457200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1600200" y="3611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V. Hướng dẫn khởi chạy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6072"/>
          </a:xfrm>
          <a:prstGeom prst="rect">
            <a:avLst/>
          </a:prstGeom>
          <a:solidFill>
            <a:srgbClr val="3F8AFD"/>
          </a:solidFill>
          <a:ln w="12700">
            <a:solidFill>
              <a:srgbClr val="3F8AF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595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Kiến trúc hệ thống</a:t>
            </a:r>
            <a:endParaRPr lang="en-US" sz="2600" dirty="0"/>
          </a:p>
        </p:txBody>
      </p:sp>
      <p:pic>
        <p:nvPicPr>
          <p:cNvPr id="4" name="Image 0" descr="img/logo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4590288"/>
            <a:ext cx="1005840" cy="4636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14600" y="4773168"/>
            <a:ext cx="6446520" cy="0"/>
          </a:xfrm>
          <a:prstGeom prst="line">
            <a:avLst/>
          </a:prstGeom>
          <a:noFill/>
          <a:ln w="25400">
            <a:solidFill>
              <a:srgbClr val="6696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27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Offline – Indexing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09728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FDF1EF"/>
          </a:solidFill>
          <a:ln w="15875">
            <a:solidFill>
              <a:srgbClr val="A5271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" y="1097280"/>
            <a:ext cx="13862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527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Tài liệu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[số file, định dạng]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870862" y="155448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099462" y="109728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FDF1EF"/>
          </a:solidFill>
          <a:ln w="15875">
            <a:solidFill>
              <a:srgbClr val="A527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45182" y="1097280"/>
            <a:ext cx="13862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527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Chunking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[size / overlap]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604565" y="155448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833165" y="109728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FDF1EF"/>
          </a:solidFill>
          <a:ln w="15875">
            <a:solidFill>
              <a:srgbClr val="A5271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78885" y="1097280"/>
            <a:ext cx="13862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527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[tên model]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338267" y="155448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566867" y="109728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FDF1EF"/>
          </a:solidFill>
          <a:ln w="15875">
            <a:solidFill>
              <a:srgbClr val="A527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12587" y="1097280"/>
            <a:ext cx="13862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527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DB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[FAISS / Chroma]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071970" y="155448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300570" y="109728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FDF1EF"/>
          </a:solidFill>
          <a:ln w="15875">
            <a:solidFill>
              <a:srgbClr val="A5271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46290" y="1097280"/>
            <a:ext cx="13862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527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Metadata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[các trường]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Online – Hỏi đáp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65760" y="260604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15875">
            <a:solidFill>
              <a:srgbClr val="1155C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11480" y="2606040"/>
            <a:ext cx="13862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55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[Streamlit / Gradio]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1870862" y="306324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099462" y="260604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15875">
            <a:solidFill>
              <a:srgbClr val="1155C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145182" y="2606040"/>
            <a:ext cx="13862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55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/health, /chat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3604565" y="306324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3833165" y="260604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15875">
            <a:solidFill>
              <a:srgbClr val="1155C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878885" y="2606040"/>
            <a:ext cx="13862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55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Cache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[loại cache]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338267" y="306324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566867" y="260604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15875">
            <a:solidFill>
              <a:srgbClr val="1155C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612587" y="2606040"/>
            <a:ext cx="13862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55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Retriever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[Top-K + Bonus]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7071970" y="306324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7300570" y="260604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15875">
            <a:solidFill>
              <a:srgbClr val="1155C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46290" y="2606040"/>
            <a:ext cx="13862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55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[model + tool]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365760" y="38862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Có thể thay bằng sơ đồ kiến trúc của bạn (draw.io, Excalidraw…).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6072"/>
          </a:xfrm>
          <a:prstGeom prst="rect">
            <a:avLst/>
          </a:prstGeom>
          <a:solidFill>
            <a:srgbClr val="3F8AFD"/>
          </a:solidFill>
          <a:ln w="12700">
            <a:solidFill>
              <a:srgbClr val="3F8AF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595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Kiến trúc – Cấu hình &amp; lựa chọn kỹ thuật</a:t>
            </a:r>
            <a:endParaRPr lang="en-US" sz="2600" dirty="0"/>
          </a:p>
        </p:txBody>
      </p:sp>
      <p:pic>
        <p:nvPicPr>
          <p:cNvPr id="4" name="Image 0" descr="img/logo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4590288"/>
            <a:ext cx="1005840" cy="4636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14600" y="4773168"/>
            <a:ext cx="6446520" cy="0"/>
          </a:xfrm>
          <a:prstGeom prst="line">
            <a:avLst/>
          </a:prstGeom>
          <a:noFill/>
          <a:ln w="25400">
            <a:solidFill>
              <a:srgbClr val="6696F2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6576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Thành phần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Lựa chọn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Lý do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Dữ liệu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[số file, chủ đề]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 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Chunking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[chunk_size / overlap]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[vì sao chọn kích thước này]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Embedding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[tên model]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 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Vector DB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[FAISS / ChromaDB]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 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Metadata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[source, page, category…]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 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Retrieval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[Top-K = 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 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LLM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[tên model]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 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Memory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[số lượt nhớ, cách lưu]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 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Tool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[tên tool]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 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Cache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[dict / lru_cache / TTLCache]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 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Advanced RAG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[A / B / C]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 ]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6072"/>
          </a:xfrm>
          <a:prstGeom prst="rect">
            <a:avLst/>
          </a:prstGeom>
          <a:solidFill>
            <a:srgbClr val="3F8AFD"/>
          </a:solidFill>
          <a:ln w="12700">
            <a:solidFill>
              <a:srgbClr val="3F8AF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595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Prompt Template thử nghiệm</a:t>
            </a:r>
            <a:endParaRPr lang="en-US" sz="2600" dirty="0"/>
          </a:p>
        </p:txBody>
      </p:sp>
      <p:pic>
        <p:nvPicPr>
          <p:cNvPr id="4" name="Image 0" descr="img/logo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4590288"/>
            <a:ext cx="1005840" cy="4636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14600" y="4773168"/>
            <a:ext cx="6446520" cy="0"/>
          </a:xfrm>
          <a:prstGeom prst="line">
            <a:avLst/>
          </a:prstGeom>
          <a:noFill/>
          <a:ln w="25400">
            <a:solidFill>
              <a:srgbClr val="6696F2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Phiên bản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Thay đổi so với bản trước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Kết quả quan sát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[prompt cơ bản]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[ví dụ: hay bịa khi không có context]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[thêm chỉ thị grounding]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 ]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[thêm yêu cầu citation]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7A7A7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 ]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 cuối cùng sử dụng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365760" y="2633472"/>
            <a:ext cx="8412480" cy="1783080"/>
          </a:xfrm>
          <a:prstGeom prst="rect">
            <a:avLst/>
          </a:prstGeom>
          <a:solidFill>
            <a:srgbClr val="F4F7FC"/>
          </a:solidFill>
          <a:ln w="12700">
            <a:solidFill>
              <a:srgbClr val="C9D7F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75488" y="2706624"/>
            <a:ext cx="8193024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[SYSTEM]   [vai trò + chỉ thị grounding + cách trả lời khi không có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thông tin + yêu cầu trích dẫn nguồn]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[CONTEXT]  {context}        # Top-K đoạn kèm (source, page)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[HISTORY]  {chat_history}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[QUESTION] {question}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6072"/>
          </a:xfrm>
          <a:prstGeom prst="rect">
            <a:avLst/>
          </a:prstGeom>
          <a:solidFill>
            <a:srgbClr val="3F8AFD"/>
          </a:solidFill>
          <a:ln w="12700">
            <a:solidFill>
              <a:srgbClr val="3F8AF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595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Evaluation Sheet</a:t>
            </a:r>
            <a:endParaRPr lang="en-US" sz="2600" dirty="0"/>
          </a:p>
        </p:txBody>
      </p:sp>
      <p:pic>
        <p:nvPicPr>
          <p:cNvPr id="4" name="Image 0" descr="img/logo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4590288"/>
            <a:ext cx="1005840" cy="4636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14600" y="4773168"/>
            <a:ext cx="6446520" cy="0"/>
          </a:xfrm>
          <a:prstGeom prst="line">
            <a:avLst/>
          </a:prstGeom>
          <a:noFill/>
          <a:ln w="25400">
            <a:solidFill>
              <a:srgbClr val="6696F2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58368"/>
          <a:ext cx="84124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48640"/>
                <a:gridCol w="2926080"/>
                <a:gridCol w="1737360"/>
                <a:gridCol w="822960"/>
                <a:gridCol w="822960"/>
                <a:gridCol w="1051560"/>
              </a:tblGrid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Nhóm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Câu hỏi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Nguồn retrieved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Faith. (0/1)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Relev. (0–2)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Ghi chú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Q05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Q06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Q08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Q09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Q10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Q11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Q12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Q14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Q15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43159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Nhóm: (1) có trong tài liệu · (2) không có trong tài liệu · (3) câu hỏi nối tiếp cần memory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6072"/>
          </a:xfrm>
          <a:prstGeom prst="rect">
            <a:avLst/>
          </a:prstGeom>
          <a:solidFill>
            <a:srgbClr val="3F8AFD"/>
          </a:solidFill>
          <a:ln w="12700">
            <a:solidFill>
              <a:srgbClr val="3F8AF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595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Kết quả tổng hợp</a:t>
            </a:r>
            <a:endParaRPr lang="en-US" sz="2600" dirty="0"/>
          </a:p>
        </p:txBody>
      </p:sp>
      <p:pic>
        <p:nvPicPr>
          <p:cNvPr id="4" name="Image 0" descr="img/logo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4590288"/>
            <a:ext cx="1005840" cy="4636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14600" y="4773168"/>
            <a:ext cx="6446520" cy="0"/>
          </a:xfrm>
          <a:prstGeom prst="line">
            <a:avLst/>
          </a:prstGeom>
          <a:noFill/>
          <a:ln w="25400">
            <a:solidFill>
              <a:srgbClr val="6696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Điểm trung bình theo nhóm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118872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Nhóm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Số câu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Faithfulness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Relevance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(1) Có trong tài liệu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(2) Không có trong tài liệu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(3) Nối tiếp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Tổng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577840" y="777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Trước / sau Advanced RAG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097280"/>
          <a:ext cx="3200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Chỉ số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Trước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Sau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Faithfulness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Relevance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Latency TB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365760" y="3154680"/>
            <a:ext cx="8412480" cy="1280160"/>
          </a:xfrm>
          <a:prstGeom prst="roundRect">
            <a:avLst>
              <a:gd name="adj" fmla="val 8571"/>
            </a:avLst>
          </a:prstGeom>
          <a:solidFill>
            <a:srgbClr val="1C1C1C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48640" y="3264408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9F2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Nhận xét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[2–3 câu: hệ thống làm tốt ở đâu, yếu ở nhóm câu hỏi nào, kỹ thuật nâng cao cải thiện được gì]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6072"/>
          </a:xfrm>
          <a:prstGeom prst="rect">
            <a:avLst/>
          </a:prstGeom>
          <a:solidFill>
            <a:srgbClr val="3F8AFD"/>
          </a:solidFill>
          <a:ln w="12700">
            <a:solidFill>
              <a:srgbClr val="3F8AF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595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Failure Analysis</a:t>
            </a:r>
            <a:endParaRPr lang="en-US" sz="2600" dirty="0"/>
          </a:p>
        </p:txBody>
      </p:sp>
      <p:pic>
        <p:nvPicPr>
          <p:cNvPr id="4" name="Image 0" descr="img/logo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4590288"/>
            <a:ext cx="1005840" cy="4636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14600" y="4773168"/>
            <a:ext cx="6446520" cy="0"/>
          </a:xfrm>
          <a:prstGeom prst="line">
            <a:avLst/>
          </a:prstGeom>
          <a:noFill/>
          <a:ln w="25400">
            <a:solidFill>
              <a:srgbClr val="6696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777240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886968"/>
            <a:ext cx="37490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D9F2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Failure #1: [tên lỗi]</a:t>
            </a:r>
            <a:endParaRPr lang="en-US" sz="1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Câu hỏi: [ ]</a:t>
            </a:r>
            <a:endParaRPr lang="en-US" sz="1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Hiện tượng: [trả lời sai / thiếu / bịa…]</a:t>
            </a:r>
            <a:endParaRPr lang="en-US" sz="1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Nguyên nhân: [retrieval sai chunk / chunk mất ngữ cảnh / LLM tự suy diễn…]</a:t>
            </a:r>
            <a:endParaRPr lang="en-US" sz="1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Bằng chứng: [trích log: context + output]</a:t>
            </a:r>
            <a:endParaRPr lang="en-US" sz="1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Khắc phục: [ ]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63440" y="777240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886968"/>
            <a:ext cx="37490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D9F2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Failure #2: [tên lỗi]</a:t>
            </a:r>
            <a:endParaRPr lang="en-US" sz="1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Câu hỏi: [ ]</a:t>
            </a:r>
            <a:endParaRPr lang="en-US" sz="1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Hiện tượng: [trả lời sai / thiếu / bịa…]</a:t>
            </a:r>
            <a:endParaRPr lang="en-US" sz="1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Nguyên nhân: [retrieval sai chunk / chunk mất ngữ cảnh / LLM tự suy diễn…]</a:t>
            </a:r>
            <a:endParaRPr lang="en-US" sz="1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Bằng chứng: [trích log: context + output]</a:t>
            </a:r>
            <a:endParaRPr lang="en-US" sz="1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Khắc phục: [ ]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6072"/>
          </a:xfrm>
          <a:prstGeom prst="rect">
            <a:avLst/>
          </a:prstGeom>
          <a:solidFill>
            <a:srgbClr val="3F8AFD"/>
          </a:solidFill>
          <a:ln w="12700">
            <a:solidFill>
              <a:srgbClr val="3F8AF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595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V. Hướng dẫn khởi chạy</a:t>
            </a:r>
            <a:endParaRPr lang="en-US" sz="2600" dirty="0"/>
          </a:p>
        </p:txBody>
      </p:sp>
      <p:pic>
        <p:nvPicPr>
          <p:cNvPr id="4" name="Image 0" descr="img/logo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4590288"/>
            <a:ext cx="1005840" cy="4636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14600" y="4773168"/>
            <a:ext cx="6446520" cy="0"/>
          </a:xfrm>
          <a:prstGeom prst="line">
            <a:avLst/>
          </a:prstGeom>
          <a:noFill/>
          <a:ln w="25400">
            <a:solidFill>
              <a:srgbClr val="6696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777240"/>
            <a:ext cx="4846320" cy="3657600"/>
          </a:xfrm>
          <a:prstGeom prst="rect">
            <a:avLst/>
          </a:prstGeom>
          <a:solidFill>
            <a:srgbClr val="F4F7FC"/>
          </a:solidFill>
          <a:ln w="12700">
            <a:solidFill>
              <a:srgbClr val="C9D7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5488" y="850392"/>
            <a:ext cx="462686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Cài đặt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[link repo] &amp;&amp; cd [repo]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   # điền API key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Ingest dữ liệu vào Vector DB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ingest.py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Chạy backend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app.main:app --port 8000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Chạy giao diện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ui/app.py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777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tra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097280"/>
          <a:ext cx="33375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240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Mục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Địa chỉ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Health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GET :8000/health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Chat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 :8000/chat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API docs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:8000/docs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CE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Giao diện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:8501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CF5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40680" y="30632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Yêu cầu môi trường: Python [phiên bản], [GPU / CPU], [API key cần có]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Mẫu báo cáo Project RAG Chatbot</dc:title>
  <dc:subject>PptxGenJS Presentation</dc:subject>
  <dc:creator>PptxGenJS</dc:creator>
  <cp:lastModifiedBy>PptxGenJS</cp:lastModifiedBy>
  <cp:revision>1</cp:revision>
  <dcterms:created xsi:type="dcterms:W3CDTF">2026-10-02T04:11:27Z</dcterms:created>
  <dcterms:modified xsi:type="dcterms:W3CDTF">2026-10-02T04:11:27Z</dcterms:modified>
</cp:coreProperties>
</file>